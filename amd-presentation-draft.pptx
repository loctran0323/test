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11155680" cy="5669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Acid Mine Drainage (AMD): An Environmental Challenge in Mining Supply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47088"/>
            <a:ext cx="6949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Arial"/>
              </a:rPr>
              <a:t>CEE 304 presentation focused on how mining chemistry creates long-term water pollution and cleanup obligations.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86868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20150C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7032" y="978408"/>
            <a:ext cx="2368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Class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298448"/>
            <a:ext cx="224028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Group 7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Professor Peters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CEE 304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Apr. 13,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718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081528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Presentation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83280"/>
            <a:ext cx="507492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Challenge and supply-chain connection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Science, engineering, and a simple neutralization calculation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Iron Mountain Mine case study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Solutions, economics, and 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429000"/>
            <a:ext cx="4160520" cy="1691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3538728"/>
            <a:ext cx="3831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Key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40480"/>
            <a:ext cx="3703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AMD is not just dirty water at one mine site. It is a built-in supply-chain risk that can require decades of treatment.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What AMD is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10424160" cy="3886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AMD forms when mining exposes sulfide minerals, especially pyrite, to oxygen and water.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That reaction generates sulfuric acid and dissolves metals into water, creating low-pH, sulfate-rich discharge.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The harm is not limited to one day of extraction: waste rock, tailings, and abandoned tunnels can keep reacting for years or decades.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So AMD is not just a local water-pollution problem - it is a supply-chain problem built into mining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Johnson and Hallberg (2005); U.S. EPA AMD overview; OSMRE AMD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How AMD fits into the energy supply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10424160" cy="3886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Mining sits near the beginning of the supply chain for coal, metals, wires, and industrial infrastructure.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Blasting, excavation, crushing, ore processing, and waste storage all increase exposure of sulfide-bearing rock.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Water then flows through waste piles, tunnels, and tailings, carrying acidity and dissolved metals into nearby watersheds.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E5E7EB"/>
                </a:solidFill>
                <a:latin typeface="Arial"/>
              </a:rPr>
              <a:t>After closure, the challenge shifts from extraction to long-term containment, treatment, and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U.S. EPA AMD overview; OSMRE AMD resources; Johnson and Hallberg (2005).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Science and engineering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532120" cy="4343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01368"/>
            <a:ext cx="5202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How AMD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0552"/>
            <a:ext cx="507492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Pyrite reacts with oxygen and water after mining exposes sulfide-bearing rock.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The reaction generates sulfate, dissolved iron, and hydrogen ions, which lower pH.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Ferric iron can keep attacking more pyrite, so the process can become self-propagating.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Iron- and sulfur-oxidizing microbes accelerate the chemistry.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480060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01368"/>
            <a:ext cx="4471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Simplified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48840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2FeS2 + 7O2 + 2H2O -&gt; 2Fe2+ + 4SO4^2- + 4H+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246120"/>
            <a:ext cx="4800600" cy="2788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355848"/>
            <a:ext cx="4471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Why low pH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657600"/>
            <a:ext cx="434340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Low pH keeps metals such as Fe, Al, Cu, Zn, Pb, and Mn dissolved.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When pH rises later, iron hydroxides can precipitate and coat streambeds.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Those orange deposits, often called yellowboy, damage habitat and stream ecology.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Cox et al. (2003); OSMRE (2000); U.S. Geological Survey AMD overview; Zipper et al. (2023).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Simple calculation: why treatment burdens get large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64208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92224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4 mol H+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304288"/>
            <a:ext cx="2313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Approximate acidity produced per mole of pyrite after combining the oxidation sequence.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64208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184" y="1792224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2 mol CaCO3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8184" y="2304288"/>
            <a:ext cx="2313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Neutralization needed for each mole of pyrite because CaCO3 consumes 2 moles of H+.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64208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792224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1.67 kg CaCO3 / kg pyrite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2304288"/>
            <a:ext cx="2313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Neutralization requirement using about 120 g/mol for pyrite and 100 g/mol for CaCO3.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664208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18904" y="1792224"/>
            <a:ext cx="158191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16.7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4" y="2304288"/>
            <a:ext cx="1581911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Limestone-equivalent alkalinity for 10 kg of pyrite.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447288"/>
            <a:ext cx="4882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Set-up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47091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1 mol pyrite -&gt; about 4 mol H+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1 mol CaCO3 neutralizes 2 mol H+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So 1 mol pyrite needs about 2 mol CaCO3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Mass ratio = (2 x 100) / 120 = 1.67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37560"/>
            <a:ext cx="4983480" cy="25603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447288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Engineering meaning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94760"/>
            <a:ext cx="452628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Even small sulfide contents can create large long-term treatment obligations.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Waste-rock design and source control matter because neutralization demand scales quickly.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The point is not exact site chemistry, but the order of magnitude of the liability.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OSMRE (2000); Zipper et al. (2023).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Iron Mountain Mine, California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pH -3.6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Reported by USGS in Richmond Mine waters - one of the most extreme AMD measurements recorded.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1773936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200 g/L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286000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Peak dissolved metal concentrations reported in mine workings.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16459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1773936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760 g/L sulfate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286000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Illustrates how chemically concentrated AMD can become.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6459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1773936"/>
            <a:ext cx="2084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400 million gal/yr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286000"/>
            <a:ext cx="20848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Average AMD treated each year at the Minnesota Flats Treatment Plant.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291840"/>
            <a:ext cx="5303520" cy="26517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01568"/>
            <a:ext cx="4974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Why this case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703320"/>
            <a:ext cx="484632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EPA once described the site as releasing more than one ton of toxic metals per day.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The Sacramento River watershed suffered major ecological damage before large-scale remediation.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Iron Mountain shows how AMD becomes permanent infrastructure, not a short-term fix.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401568"/>
            <a:ext cx="4791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Management 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03320"/>
            <a:ext cx="4663440" cy="192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The permanent treatment plant began operating in 1994 and later shifted to high-density sludge processing.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EPA notes cleanup has involved treatment of more than 8 billion gallons of acidic drainage over time.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Once AMD reaches this scale, cleanup requires long-term funding, operations, and oversight.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Nordstrom and Alpers (1999); Nordstrom et al. (2000); U.S. EPA (2006) and Iron Mountain site summaries.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Technological solutions and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3191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Prevention at the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72968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Keep oxygen and water away from reactive sulfide materials.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Use covers, diversion ditches, sealing, and better waste storage design.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Best option when feasible because it stops AMD before it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6420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773936"/>
            <a:ext cx="3191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Active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103120"/>
            <a:ext cx="3172968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Add lime or limestone to raise pH and precipitate metals.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Works for severe sites such as Iron Mountain.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Reliable, but energy-, reagent-, and sludge-intensive.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664208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773936"/>
            <a:ext cx="3191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Passive and biological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2103120"/>
            <a:ext cx="3172968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Examples: anoxic limestone drains, open channels, wetlands, vertical flow ponds.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Sulfate-reducing bacteria can remove sulfate and metals while generating alkalinity.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Best for suitable chemistry, flow, climate, and land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977639"/>
            <a:ext cx="9601200" cy="1737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4087367"/>
            <a:ext cx="9272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Bottom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434840"/>
            <a:ext cx="9052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 single technology works everywhere. The strongest engineering strategy combines prediction, source control, and the right treatment system for site chemistry and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Johnson and Hallberg (2005); Skousen et al. (2017); Rambabu et al. (2020); U.S. EPA AMD overview.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Economics: why AMD becomes a long-tail 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82496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1,543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22576"/>
            <a:ext cx="2770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Stream length protected by the Pennsylvania treatment systems evaluated by Black and Weber.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51376" y="1682496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10512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$5,720 / km /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22576"/>
            <a:ext cx="2770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Present-value lifetime treatment cost implied by that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1682496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810512"/>
            <a:ext cx="2770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AMDTreat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322576"/>
            <a:ext cx="27706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OSMRE cost-estimation tool used for mine-drainage abatement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383280"/>
            <a:ext cx="5257800" cy="2514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Economic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94760"/>
            <a:ext cx="4800600" cy="1783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Treatment often continues long after revenue from the mine has ended.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Costs include reagents, sludge disposal, monitoring, inspections, and plant operations.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If not internalized early, cleanup costs shift from private operators to the public.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80"/>
            <a:ext cx="4983480" cy="2514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493008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Economic lesson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4526280" cy="1783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Treatment can still be cost-effective because stream restoration benefits are large.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But prevention and early reclamation are usually more rational than decades of cleanup.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5E7EB"/>
                </a:solidFill>
                <a:latin typeface="Arial"/>
              </a:rPr>
              <a:t>AMD is therefore an environmental issue and a financial-assurance issue.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Black and Weber (2024); Johnson and Hallberg (2005); OSMRE AMDTreat resources; U.S. EPA AMD overview.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Laws and regulation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64208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73936"/>
            <a:ext cx="5065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Core legal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Under the Clean Water Act, point-source discharges to waters of the United States generally need NPDES permits.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EPA says permits are issued by EPA or authorized states and usually run no more than five years before renewal.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SMCRA is the main federal law for environmental effects of coal mining, with states often acting as the primary regulator after primacy approval.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Legacy hardrock sites such as Iron Mountain may also involve CERCLA / Superfund and state water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64208"/>
            <a:ext cx="4937760" cy="1965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73936"/>
            <a:ext cx="4608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40 CFR Part 434, Subpart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1"/>
            <a:ext cx="448056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Existing-source limits include Fe 7.0 mg/L daily max and 3.5 mg/L average.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Mn 4.0 / 2.0 mg/L, TSS 70 / 35 mg/L, and pH between 6.0 and 9.0.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94760"/>
            <a:ext cx="4937760" cy="23500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3904488"/>
            <a:ext cx="4608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Iron Mountain enforcement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224528"/>
            <a:ext cx="448056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California issued waste-discharge requirements in 1977 and an NPDES permit in 1978.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A Cease and Desist Order followed in 1979 after permit violations.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5E7EB"/>
                </a:solidFill>
                <a:latin typeface="Arial"/>
              </a:rPr>
              <a:t>This makes the regulation story concrete, not just theoretical oversight.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U.S. EPA NPDES overview (2025); eCFR 40 CFR Part 434 (2026); OSMRE SMCRA overview; California State Water Resources Control Board (1982).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00784"/>
            <a:ext cx="10698480" cy="2057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69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Main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76272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Acid mine drainage shows that environmental harm in energy and industrial systems begins upstream, when mining exposes sulfide-bearing rock and creates a geochemical system that can persist for decades.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06908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78808"/>
            <a:ext cx="4791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What to emphasize when presenting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498848"/>
            <a:ext cx="466344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AMD is both a chemistry problem and a long-term engineering management problem.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Iron Mountain proves the cost of waiting until contamination is already severe.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069080"/>
            <a:ext cx="5248656" cy="1828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4178808"/>
            <a:ext cx="4919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DBA74"/>
                </a:solidFill>
                <a:latin typeface="Arial"/>
              </a:rPr>
              <a:t>Closing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498848"/>
            <a:ext cx="47548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Sustainable mining has to combine chemistry, hydrology, design, economics, and regulation from the beginning.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The goal is prevention first, then treatment and accountability where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Sources: Nordstrom and Alpers (1999); Johnson and Hallberg (2005); U.S. EPA AMD overview.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DBA74"/>
                </a:solidFill>
                <a:latin typeface="Arial"/>
              </a:rP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Selected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3774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64208"/>
            <a:ext cx="10972800" cy="4526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515600" cy="3886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Black, Katie Jo, and Jeremy G. Weber. Communications Earth &amp; Environment, 2024.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California State Water Resources Control Board. Iron Mountain Mines review petition, 1982.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Johnson, D. Barrie, and Kevin B. Hallberg. Science of the Total Environment, 2005.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Nordstrom, D. Kirk, and Charles N. Alpers. PNAS, 1999.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Rambabu, K. et al. Environmental Science and Ecotechnology, 2020.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Skousen, Jeff et al. Mine Water and the Environment,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OSMRE AMD guidance and SMCRA overview.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U.S. EPA AMD, NPDES, and Iron Mountain resources.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U.S. Geological Survey AMD overview.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5E7EB"/>
                </a:solidFill>
                <a:latin typeface="Arial"/>
              </a:rPr>
              <a:t>Zipper, Carl E. et al. Virginia Tech AMD treatment guide,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Use the bibliography in your paper for full citation formatting on the submitted assignment.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Group 7 | AMD presentation | 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 Mine Drainage (AMD) Presentation</dc:title>
  <dc:subject>CEE 304 Group 7 slide deck</dc:subject>
  <dc:creator>OpenAI Cursor Agent</dc:creator>
  <cp:keywords>acid mine drainage, AMD, CEE 304, Iron Mountain, mining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