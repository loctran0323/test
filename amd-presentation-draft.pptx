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11155680" cy="5669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914400"/>
            <a:ext cx="7589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Acid Mine Drainage (AMD)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795527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5E7EB"/>
                </a:solidFill>
                <a:latin typeface="Arial"/>
              </a:rPr>
              <a:t>Draft presentation covering environmental risk, energy supply chain impacts, treatment technologies, economics, regulation, and case studies.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FDBA74"/>
                </a:solidFill>
                <a:latin typeface="Arial"/>
              </a:rPr>
              <a:t>Energy supply chain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DBA74"/>
                </a:solidFill>
                <a:latin typeface="Arial"/>
              </a:rPr>
              <a:t>Technology approaches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DBA74"/>
                </a:solidFill>
                <a:latin typeface="Arial"/>
              </a:rPr>
              <a:t>Economics / costs / financing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DBA74"/>
                </a:solidFill>
                <a:latin typeface="Arial"/>
              </a:rPr>
              <a:t>Laws and regulations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FDBA74"/>
                </a:solidFill>
                <a:latin typeface="Arial"/>
              </a:rPr>
              <a:t>Example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91440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Arial"/>
              </a:rPr>
              <a:t>Key message:
AMD is both a long-tail water liability and an emerging critical-minerals recovery opportunity.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4480560"/>
            <a:ext cx="3063240" cy="914400"/>
          </a:xfrm>
          <a:prstGeom prst="roundRect">
            <a:avLst/>
          </a:prstGeom>
          <a:solidFill>
            <a:srgbClr val="301709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73568" y="4700016"/>
            <a:ext cx="2788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Courier New"/>
              </a:rPr>
              <a:t>2FeS2 + 7O2 + 2H2O -&gt; 2Fe2+ + 4SO4^2- + 4H+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What acid mine drainage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6424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424160" cy="4023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AMD forms when sulfide minerals such as pyrite are exposed to air and water during or after mining.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Oxidation generates sulfuric acid and mobilizes dissolved metals such as iron, aluminum, and manganese.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Microbial activity can accelerate these reactions and make the drainage persist for decades or longer.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AMD can occur at both active and abandoned coal and metal mines.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U.S. EPA abandoned mine drainage overview; USGS acid mine drainage overview.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Why AMD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6424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424160" cy="4023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Acidic, metal-rich water degrades streams, groundwater, sediments, aquatic habitat, and downstream water uses.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EPA guidance notes mining-influenced water affects more than 10,000 miles of receiving waters in the United States.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Pennsylvania reports roughly 5,600 AMD-impaired stream miles, showing how severe the issue can become in legacy coal regions.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The problem can outlast mine closure and become a public liability if treatment or maintenance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EPA MIW treatment guide; PA AMD impairment summaries; SRBC regional strategy materials.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Energy supply chain implications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6424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424160" cy="4023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AMD is a mining and energy supply-chain issue because water liabilities affect permitting, capital planning, bonding, and long-term operating costs.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Treatment itself becomes part of the supply chain through demand for lime, limestone, power, pumps, labor, and sludge handling.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NETL reports AMD treatment wastes in Appalachia may contain about 1,102 tons per year of rare earth element potential.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E5E7EB"/>
                </a:solidFill>
                <a:latin typeface="Arial"/>
              </a:rPr>
              <a:t>That makes AMD both a liability and a possible unconventional feedstock for critical minerals used in advanced energy technologies.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7315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NETL Geological and Environmental Systems page; OSTI REE-from-AMD summaries.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Technology approaches: predict, prevent, treat, and recover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755648"/>
            <a:ext cx="23225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4832"/>
            <a:ext cx="2377440" cy="1316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Static/kinetic testing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Geochemical modeling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Waste characterization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755648"/>
            <a:ext cx="23225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Prevention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084832"/>
            <a:ext cx="2377440" cy="1316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Covers and encapsulation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Water diversion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Alkaline blending / backfilling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645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755648"/>
            <a:ext cx="23225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Active 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84832"/>
            <a:ext cx="2377440" cy="1316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Lime or caustic neutralization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Aeration and sludge handling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Best for high flow and variable chemistry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1645920"/>
            <a:ext cx="2423160" cy="18288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54312" y="1755648"/>
            <a:ext cx="20939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Passive 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084832"/>
            <a:ext cx="2148840" cy="13167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ALDs, SAPS, wetlands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Lower O&amp;M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Needs land and site-specific chemistry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37360" y="379476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1952" y="3904488"/>
            <a:ext cx="3511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Recovery / reuse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20" y="4233672"/>
            <a:ext cx="3566160" cy="11338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Recover rare earths or cobalt from AMD solids where enriched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Potential cost offset, but still site-specific and emerging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97880" y="379476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62472" y="3904488"/>
            <a:ext cx="3511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Practical lesson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233672"/>
            <a:ext cx="3566160" cy="11338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E5E7EB"/>
                </a:solidFill>
                <a:latin typeface="Arial"/>
              </a:rPr>
              <a:t>Most successful projects combine source control with active or passive polishing rather than using a single method alone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EPA MIW treatment guide; EPA AMD overview; NETL / OSTI summaries.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Economics, costs, and financing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37944"/>
            <a:ext cx="30906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rial"/>
              </a:rPr>
              <a:t>$34 / ton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350008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4A3B8"/>
                </a:solidFill>
                <a:latin typeface="Arial"/>
              </a:rPr>
              <a:t>EPA example cost for in situ limestone drain acid-load treatment.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9164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1144" y="1837944"/>
            <a:ext cx="263347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rial"/>
              </a:rPr>
              <a:t>$441 / ton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1144" y="2350008"/>
            <a:ext cx="26334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4A3B8"/>
                </a:solidFill>
                <a:latin typeface="Arial"/>
              </a:rPr>
              <a:t>Comparable conventional caustic soda treatment cost in the same example.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1691640"/>
            <a:ext cx="320040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72983" y="1837944"/>
            <a:ext cx="290779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rial"/>
              </a:rPr>
              <a:t>$5,700 / km /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2983" y="2350008"/>
            <a:ext cx="29077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4A3B8"/>
                </a:solidFill>
                <a:latin typeface="Arial"/>
              </a:rPr>
              <a:t>Estimated stream-protection cost from Pennsylvania treatment-system analysis.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83280"/>
            <a:ext cx="5166360" cy="2240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93008"/>
            <a:ext cx="4837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Cost drivers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480060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Active systems trade reliability for recurring energy, chemical, labor, and sludge costs.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Passive systems lower O&amp;M but need land, maintenance, and favorable geochemistry.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Bonding and financial assurance must account for long-term post-closure water treatment.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383280"/>
            <a:ext cx="4754880" cy="2240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493008"/>
            <a:ext cx="4425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Financing implication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794760"/>
            <a:ext cx="43891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AMD is often a decades-long liability rather than a one-time capex item.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Public AML funds frequently fill abandoned-site gaps.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Critical-mineral recovery is promising as an offset, but should not be the only funding assumption.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9788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EPA SBIR limestone-drain example; Communications Earth &amp; Environment (2024); EPA MIW treatment guide.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REGULATION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Laws and regulations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01368"/>
            <a:ext cx="49743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46320" cy="374903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Clean Water Act / NPDES permits regulate mine-water discharges.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40 CFR Part 434 covers acid or ferruginous mine drainage and related coal-mining subcategories.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Illustrative new-source limits: total iron 6.0 mg/L daily max, 3.0 mg/L 30-day average; manganese 4.0 / 2.0; TSS 70 / 35; pH 6.0-9.0.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SMCRA and abandoned mine land programs support reclamation and AMD abatement.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CERCLA / Superfund applies at major contaminated legacy sites.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4754880" cy="448056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801368"/>
            <a:ext cx="4425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European Union / international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4297680" cy="374903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EU Extractive Waste Directive (2006/21/EC) requires waste-management plans, permits, closure plans, monitoring, and pollution prevention.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The Water Framework Directive adds protection against deterioration of receiving-water status.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Across jurisdictions, the trend is toward stronger closure planning, more monitoring, and clearer polluter-pays obligations.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9788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EPA Coal Mining Effluent Guidelines; eCFR 40 CFR Part 434 and 30 CFR Part 876; EU mining-waste overview.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Summitville Mine, Colorado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Open-pit gold mining and heap leaching increased AMD generation in a sulfide-rich setting.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Acidic, metal-laden drainage damaged aquatic life for more than 20 miles downstream.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Response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795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EPA took over operations after bankruptcy and focused on both water treatment and source control.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Major acid-generating wastes were moved into lined, capped repositories.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2551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Lesson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Reported treatment cost was about $50,000 per day during response planning.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Poor AMD control can become a long-term public finance and regulatory problem.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Summitville technical papers and reclamation case documentation.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Wheal Jane, Cornwall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Mine closure and rebound of mine water led to a highly visible acidic discharge into the Carnon River system.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The site became a flagship AMD remediation case in the UK.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Passive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795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Pilot systems used reed beds, aerobic and anaerobic cells, rock filters, and pretreatment options.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The work showed useful natural attenuation and metal-removal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2551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Lesson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Passive systems were informative but limited by land, plugging, and flow constraints.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An active lime plant was still needed to handle the full discharge.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Wheal Jane bioremediation literature and ITRC case-study summary.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Appalachia: restoration plus critical-minerals recovery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Restoration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Decades of Pennsylvania treatment-system data show AMD cleanup can protect streams cost-effectively.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This makes AMD infrastructure a regional water-restoration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795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Just transition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795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AMD burdens often overlap with communities affected by coal decline and economic transition.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Cleanup therefore also supports regional redevelopment and public health.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691640"/>
            <a:ext cx="2971800" cy="4526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25512" y="1801368"/>
            <a:ext cx="26426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Recovery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2130552"/>
            <a:ext cx="2642616" cy="3886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NETL and partners are developing processes to recover REEs and cobalt from AMD treatment solids.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This could shift some sites from pure cost centers toward remediation plus materials recovery.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914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4A3B8"/>
                </a:solidFill>
                <a:latin typeface="Arial"/>
              </a:rPr>
              <a:t>Sources: Black and Weber (2024); NETL / OSTI rare-earth recovery work.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DBA74"/>
                </a:solidFill>
                <a:latin typeface="Arial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rial"/>
              </a:rPr>
              <a:t>Takeaways and export note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201168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5577840" cy="438912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01368"/>
            <a:ext cx="52486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Main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5120640" cy="3657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E5E7EB"/>
                </a:solidFill>
                <a:latin typeface="Arial"/>
              </a:rPr>
              <a:t>AMD is a predictable geochemical risk that should be addressed early in mine design and closure planning.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5E7EB"/>
                </a:solidFill>
                <a:latin typeface="Arial"/>
              </a:rPr>
              <a:t>Source control is usually more durable than relying only on downstream treatment.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5E7EB"/>
                </a:solidFill>
                <a:latin typeface="Arial"/>
              </a:rPr>
              <a:t>For energy and mining supply chains, AMD affects permitting, cost, financing, community acceptance, and ESG risk.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E5E7EB"/>
                </a:solidFill>
                <a:latin typeface="Arial"/>
              </a:rPr>
              <a:t>Recovery of rare earths and other critical minerals from AMD solids is promising but still highly site-specific.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691640"/>
            <a:ext cx="4434840" cy="192024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1801368"/>
            <a:ext cx="41056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Google Slides import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03120"/>
            <a:ext cx="3977639" cy="1325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Open Google Slides.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File -&gt; Open -&gt; Upload.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Select amd-presentation-draft.pptx.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E5E7EB"/>
                </a:solidFill>
                <a:latin typeface="Arial"/>
              </a:rPr>
              <a:t>Google Slides will convert it into an editable deck.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3840480"/>
            <a:ext cx="4434840" cy="224028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02552" y="3950208"/>
            <a:ext cx="410565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DBA74"/>
                </a:solidFill>
                <a:latin typeface="Arial"/>
              </a:rPr>
              <a:t>Selected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251960"/>
            <a:ext cx="3977639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E5E7EB"/>
                </a:solidFill>
                <a:latin typeface="Arial"/>
              </a:rPr>
              <a:t>EPA abandoned mine drainage overview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5E7EB"/>
                </a:solidFill>
                <a:latin typeface="Arial"/>
              </a:rPr>
              <a:t>USGS acid mine drainage overview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5E7EB"/>
                </a:solidFill>
                <a:latin typeface="Arial"/>
              </a:rPr>
              <a:t>EPA MIW treatment guide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5E7EB"/>
                </a:solidFill>
                <a:latin typeface="Arial"/>
              </a:rPr>
              <a:t>Black and Weber (2024)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5E7EB"/>
                </a:solidFill>
                <a:latin typeface="Arial"/>
              </a:rPr>
              <a:t>NETL / OSTI REE recovery summaries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Arial"/>
              </a:rPr>
              <a:t>AMD draft deck | Slide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Acid Mine Drainage (AMD) Draft Deck</dc:title>
  <dc:subject>AMD presentation for Google Slides import</dc:subject>
  <dc:creator>OpenAI Cursor Agent</dc:creator>
  <cp:keywords>acid mine drainage, AMD, mining, water treatment, google slides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